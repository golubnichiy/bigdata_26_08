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73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• СПЕЦИАЛИСТ ПО БОЛЬШИМ ДАННЫМ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данных в Pandas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0555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777240" y="1170432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данных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Pandas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587752"/>
            <a:ext cx="7132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BD5E1"/>
                </a:solidFill>
              </a:rPr>
              <a:t>Учебный модуль программы «Специалист по большим данным»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338328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896112" y="3904488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СКВОЗНОЙ КЕЙС: ДАННЫЕ О КОТАХ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321040" y="1051560"/>
            <a:ext cx="3017520" cy="4251960"/>
          </a:xfrm>
          <a:prstGeom prst="roundRect">
            <a:avLst>
              <a:gd name="adj" fmla="val 2424"/>
            </a:avLst>
          </a:prstGeom>
          <a:solidFill>
            <a:srgbClr val="111C32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891540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823960" y="292608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нужен Pandas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– рабочая среда для исследования, очистки и преобразования табличных данных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615440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5" name="Text 3"/>
          <p:cNvSpPr/>
          <p:nvPr/>
        </p:nvSpPr>
        <p:spPr>
          <a:xfrm>
            <a:off x="758952" y="2350008"/>
            <a:ext cx="1469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Загрузка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19528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7" name="Shape 5"/>
          <p:cNvSpPr/>
          <p:nvPr/>
        </p:nvSpPr>
        <p:spPr>
          <a:xfrm>
            <a:off x="2520696" y="2148840"/>
            <a:ext cx="1615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8" name="Text 6"/>
          <p:cNvSpPr/>
          <p:nvPr/>
        </p:nvSpPr>
        <p:spPr>
          <a:xfrm>
            <a:off x="2593848" y="2350008"/>
            <a:ext cx="1469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Исследование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54424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0" name="Shape 8"/>
          <p:cNvSpPr/>
          <p:nvPr/>
        </p:nvSpPr>
        <p:spPr>
          <a:xfrm>
            <a:off x="4355592" y="2148840"/>
            <a:ext cx="1212231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1" name="Text 9"/>
          <p:cNvSpPr/>
          <p:nvPr/>
        </p:nvSpPr>
        <p:spPr>
          <a:xfrm>
            <a:off x="4428744" y="2350008"/>
            <a:ext cx="1057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Очистка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58390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3" name="Shape 11"/>
          <p:cNvSpPr/>
          <p:nvPr/>
        </p:nvSpPr>
        <p:spPr>
          <a:xfrm>
            <a:off x="5913549" y="2148840"/>
            <a:ext cx="189237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4" name="Text 12"/>
          <p:cNvSpPr/>
          <p:nvPr/>
        </p:nvSpPr>
        <p:spPr>
          <a:xfrm>
            <a:off x="5998893" y="2350008"/>
            <a:ext cx="1690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Преобразование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24216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6" name="Shape 14"/>
          <p:cNvSpPr/>
          <p:nvPr/>
        </p:nvSpPr>
        <p:spPr>
          <a:xfrm>
            <a:off x="8025384" y="2148840"/>
            <a:ext cx="1615440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7" name="Text 15"/>
          <p:cNvSpPr/>
          <p:nvPr/>
        </p:nvSpPr>
        <p:spPr>
          <a:xfrm>
            <a:off x="8098536" y="2350008"/>
            <a:ext cx="1469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Анализ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9112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9" name="Shape 17"/>
          <p:cNvSpPr/>
          <p:nvPr/>
        </p:nvSpPr>
        <p:spPr>
          <a:xfrm>
            <a:off x="9860280" y="2148840"/>
            <a:ext cx="1615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20" name="Text 18"/>
          <p:cNvSpPr/>
          <p:nvPr/>
        </p:nvSpPr>
        <p:spPr>
          <a:xfrm>
            <a:off x="9933432" y="2350008"/>
            <a:ext cx="1469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Выгрузка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3794760"/>
            <a:ext cx="10515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2" name="Text 20"/>
          <p:cNvSpPr/>
          <p:nvPr/>
        </p:nvSpPr>
        <p:spPr>
          <a:xfrm>
            <a:off x="1106424" y="3913632"/>
            <a:ext cx="102138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Главная ценность Pandas – возможность быстро перейти от «грязного» файла к структурированному DataFrame и воспроизводимому коду.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в Data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836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практике Pandas редко существует сам по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он встраивается между источником и потребителем данных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5" name="Text 3"/>
          <p:cNvSpPr/>
          <p:nvPr/>
        </p:nvSpPr>
        <p:spPr>
          <a:xfrm>
            <a:off x="576072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CSV / Excel / 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7608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7" name="Shape 5"/>
          <p:cNvSpPr/>
          <p:nvPr/>
        </p:nvSpPr>
        <p:spPr>
          <a:xfrm>
            <a:off x="2398776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8" name="Text 6"/>
          <p:cNvSpPr/>
          <p:nvPr/>
        </p:nvSpPr>
        <p:spPr>
          <a:xfrm>
            <a:off x="2471928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DataFrame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93464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0" name="Shape 8"/>
          <p:cNvSpPr/>
          <p:nvPr/>
        </p:nvSpPr>
        <p:spPr>
          <a:xfrm>
            <a:off x="4294632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1" name="Text 9"/>
          <p:cNvSpPr/>
          <p:nvPr/>
        </p:nvSpPr>
        <p:spPr>
          <a:xfrm>
            <a:off x="4367784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Cleaning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9320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3" name="Shape 11"/>
          <p:cNvSpPr/>
          <p:nvPr/>
        </p:nvSpPr>
        <p:spPr>
          <a:xfrm>
            <a:off x="6190488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4" name="Text 12"/>
          <p:cNvSpPr/>
          <p:nvPr/>
        </p:nvSpPr>
        <p:spPr>
          <a:xfrm>
            <a:off x="6263640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Transformation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85176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6" name="Shape 14"/>
          <p:cNvSpPr/>
          <p:nvPr/>
        </p:nvSpPr>
        <p:spPr>
          <a:xfrm>
            <a:off x="8086344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7" name="Text 15"/>
          <p:cNvSpPr/>
          <p:nvPr/>
        </p:nvSpPr>
        <p:spPr>
          <a:xfrm>
            <a:off x="8159496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Aggregation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81032" y="23591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19" name="Shape 17"/>
          <p:cNvSpPr/>
          <p:nvPr/>
        </p:nvSpPr>
        <p:spPr>
          <a:xfrm>
            <a:off x="9982200" y="2148840"/>
            <a:ext cx="16764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1600"/>
          </a:p>
        </p:txBody>
      </p:sp>
      <p:sp>
        <p:nvSpPr>
          <p:cNvPr id="20" name="Text 18"/>
          <p:cNvSpPr/>
          <p:nvPr/>
        </p:nvSpPr>
        <p:spPr>
          <a:xfrm>
            <a:off x="10055352" y="2350008"/>
            <a:ext cx="153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BI / ML / 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886200"/>
            <a:ext cx="9875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удобен на этапе исследования и подготовки данных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и те же операции затем переносятся в SQL, Spark и аналитические СУБД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обработки превращается в воспроизводимый pipeline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и Big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8029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работает в памяти одной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машины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это важно учитывать в архитектуре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139193"/>
              </p:ext>
            </p:extLst>
          </p:nvPr>
        </p:nvGraphicFramePr>
        <p:xfrm>
          <a:off x="777240" y="1817916"/>
          <a:ext cx="10607040" cy="181051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Инструмент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Типичный сценарий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локальная аналитика, EDA, подготовка данных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быстрые DataFrame на одной машине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DuckDB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аналитика CSV / Parquet без загрузки всего в 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PySpark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распределённая обработка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ClickHouse / PostgreSQL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обработка на стороне СУБД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1325880" y="4800600"/>
            <a:ext cx="9601200" cy="841248"/>
          </a:xfrm>
          <a:prstGeom prst="roundRect">
            <a:avLst>
              <a:gd name="adj" fmla="val 5435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 sz="2400"/>
          </a:p>
        </p:txBody>
      </p:sp>
      <p:sp>
        <p:nvSpPr>
          <p:cNvPr id="6" name="Text 3"/>
          <p:cNvSpPr/>
          <p:nvPr/>
        </p:nvSpPr>
        <p:spPr>
          <a:xfrm>
            <a:off x="1472184" y="4919472"/>
            <a:ext cx="9308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Pandas не заменяет Big Data-платформу, но отлично обучает мышлению через табличные преобразования.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Python для работы с данными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91440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NumPy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массивы и векторизация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4630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EFF6FF"/>
          </a:solidFill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461772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Pandas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1772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табличные данные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832104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Matplotlib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визуализация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Text 11"/>
          <p:cNvSpPr/>
          <p:nvPr/>
        </p:nvSpPr>
        <p:spPr>
          <a:xfrm>
            <a:off x="91440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SciPy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научные вычисления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38328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6" name="Text 14"/>
          <p:cNvSpPr/>
          <p:nvPr/>
        </p:nvSpPr>
        <p:spPr>
          <a:xfrm>
            <a:off x="461772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scikit-learn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ML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383280"/>
            <a:ext cx="3200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Text 17"/>
          <p:cNvSpPr/>
          <p:nvPr/>
        </p:nvSpPr>
        <p:spPr>
          <a:xfrm>
            <a:off x="832104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SQL / Spark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2104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масштабирование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Pandas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1"/>
            <a:ext cx="10698480" cy="7585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Стандартное соглашение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импортировать библиотеку под псевдонимом pd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909356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1078992" y="2046516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170432" y="21196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" y="2476284"/>
            <a:ext cx="4334256" cy="1993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print(pd.__version__)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000796"/>
            <a:ext cx="4663440" cy="314597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`pd` – общепринятое краткое имя библиотеки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важна: поведение отдельных функций может меняться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учебных примерах используем один и тот же импорт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ключевых объекта Pandas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10515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</a:rPr>
              <a:t>Series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</a:rPr>
              <a:t>1D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значения + индекс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EFF6FF"/>
          </a:solidFill>
          <a:ln w="228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48006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DataFrame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006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</a:rPr>
              <a:t>2D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строки × столбцы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600200"/>
            <a:ext cx="3200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</a:rPr>
              <a:t>Index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54964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</a:rPr>
              <a:t>метки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идентификация строк / столбцов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Одномерная структура данных с индексом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0" cy="3474720"/>
          </a:xfrm>
          <a:prstGeom prst="roundRect">
            <a:avLst>
              <a:gd name="adj" fmla="val 15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5065776" cy="2724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 = pd.Series([8.4, 4.4, 6.3, 5.2])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600200"/>
          <a:ext cx="3108960" cy="1508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6675120" y="4084319"/>
            <a:ext cx="3840480" cy="1508759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sz="2400"/>
          </a:p>
        </p:txBody>
      </p:sp>
      <p:sp>
        <p:nvSpPr>
          <p:cNvPr id="10" name="Text 7"/>
          <p:cNvSpPr/>
          <p:nvPr/>
        </p:nvSpPr>
        <p:spPr>
          <a:xfrm>
            <a:off x="6821424" y="4507992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Series можно воспринимать как один столбец DataFrame.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Series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можно задавать самостоятельно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669280" cy="3931920"/>
          </a:xfrm>
          <a:prstGeom prst="roundRect">
            <a:avLst>
              <a:gd name="adj" fmla="val 139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5248656" cy="3182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cats_weight = pd.Series(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[8.4, 4.4, 6.3],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index=['Лео', 'Мия', 'Злата']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cats_weight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45920"/>
          <a:ext cx="3474720" cy="12070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Злата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Series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Метка и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разные способы обращения к данным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64592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33272" y="171907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2075688"/>
            <a:ext cx="4700016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cats_weight.loc['Злата']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6.3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cats_weight.iloc[0]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8.4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5720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– обращение по метке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iloc</a:t>
            </a: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обращение по позиции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не обязан быть последовательностью 0, 1, 2, 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двумерная структура Pandas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0467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89611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50392" y="1892808"/>
            <a:ext cx="5065776" cy="2907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['Лео', 'Мия', 'Кира'],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'weight': [8.4, 5.2, None]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00200"/>
          <a:ext cx="4389120" cy="120700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Кира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29400" y="3779519"/>
            <a:ext cx="4389120" cy="139337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7"/>
          <p:cNvSpPr/>
          <p:nvPr/>
        </p:nvSpPr>
        <p:spPr>
          <a:xfrm>
            <a:off x="6775704" y="4187952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DataFrame = несколько Series, объединённых общим индексом.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 DataFrame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Разберём одну таблицу как набор индексов, столбцов и значений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9326880" cy="12070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cat_id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Злата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Шотландская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39776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3"/>
          <p:cNvSpPr/>
          <p:nvPr/>
        </p:nvSpPr>
        <p:spPr>
          <a:xfrm>
            <a:off x="987552" y="404164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INDEX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63440" y="39776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5"/>
          <p:cNvSpPr/>
          <p:nvPr/>
        </p:nvSpPr>
        <p:spPr>
          <a:xfrm>
            <a:off x="4736592" y="404164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COLUMNS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823960" y="39776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7"/>
          <p:cNvSpPr/>
          <p:nvPr/>
        </p:nvSpPr>
        <p:spPr>
          <a:xfrm>
            <a:off x="8897112" y="40416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VALUES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DataFrame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можно получить из Python-объектов или внешнего источника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374904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 списков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словарей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NumPy-массив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Excel / JSON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SQL-запрос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DataFrame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23560" y="141732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Shape 4"/>
          <p:cNvSpPr/>
          <p:nvPr/>
        </p:nvSpPr>
        <p:spPr>
          <a:xfrm>
            <a:off x="578815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587959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33872" y="1984248"/>
            <a:ext cx="4791456" cy="2542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'cat_id': ['CAT001', 'CAT002'],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['Лео', 'Мия']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данных Pandas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1"/>
            <a:ext cx="10698480" cy="76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определяет допустимые операции, объём памяти и качество вычислений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285849"/>
              </p:ext>
            </p:extLst>
          </p:nvPr>
        </p:nvGraphicFramePr>
        <p:xfrm>
          <a:off x="822960" y="1952898"/>
          <a:ext cx="10515600" cy="2773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количество визитов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float64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рост, стоимость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/ string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имя, порода, город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логический признак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datetime64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дата рождения / визита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повторяющиеся категории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типы данных важны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реальных данных «число» часто приходит как строка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791456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cats.dtypes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weight_kg     object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height_cm    float64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birth_date    object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600199"/>
            <a:ext cx="5105400" cy="2013857"/>
          </a:xfrm>
          <a:prstGeom prst="roundRect">
            <a:avLst>
              <a:gd name="adj" fmla="val 3448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01384" y="1719071"/>
            <a:ext cx="4703064" cy="17730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weight_kg содержит 4,9 • 6,2 • «нет данных» • </a:t>
            </a:r>
            <a:r>
              <a:rPr lang="en-US" sz="2400" dirty="0" err="1">
                <a:solidFill>
                  <a:srgbClr val="111827"/>
                </a:solidFill>
              </a:rPr>
              <a:t>NaN</a:t>
            </a:r>
            <a:r>
              <a:rPr lang="en-US" sz="2400" dirty="0">
                <a:solidFill>
                  <a:srgbClr val="111827"/>
                </a:solidFill>
              </a:rPr>
              <a:t> – поэтому Pandas не распознаёт столбец как числовой.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46520" y="4040777"/>
            <a:ext cx="4873752" cy="262519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расчётами тип нужно проверить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Некорректный </a:t>
            </a:r>
            <a:r>
              <a:rPr lang="en-US" sz="2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частая причина ошибок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и приведение типов входят в обязательный pipeline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учебный датасет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сквозной кейс: коты, справочник пород и ветеринарные визиты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932688" y="167335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125 × 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21214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cats_raw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5087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3767328" y="167335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 × 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767328" y="21214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breeds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50876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6601968" y="167335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210 × 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1968" y="2121408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visits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0" y="150876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9436608" y="167335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</a:rPr>
              <a:t>5 листов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36608" y="21214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Excel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3886200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Text 15"/>
          <p:cNvSpPr/>
          <p:nvPr/>
        </p:nvSpPr>
        <p:spPr>
          <a:xfrm>
            <a:off x="1993392" y="4087368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cats_raw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04944" y="409651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9" name="Shape 17"/>
          <p:cNvSpPr/>
          <p:nvPr/>
        </p:nvSpPr>
        <p:spPr>
          <a:xfrm>
            <a:off x="4706112" y="3886200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Text 18"/>
          <p:cNvSpPr/>
          <p:nvPr/>
        </p:nvSpPr>
        <p:spPr>
          <a:xfrm>
            <a:off x="4779264" y="4087368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breeds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90816" y="409651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2" name="Shape 20"/>
          <p:cNvSpPr/>
          <p:nvPr/>
        </p:nvSpPr>
        <p:spPr>
          <a:xfrm>
            <a:off x="7491984" y="3886200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3" name="Text 21"/>
          <p:cNvSpPr/>
          <p:nvPr/>
        </p:nvSpPr>
        <p:spPr>
          <a:xfrm>
            <a:off x="7565136" y="4087368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visits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таблица cats_raw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признаков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от идентификатора до владельца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0562"/>
              </p:ext>
            </p:extLst>
          </p:nvPr>
        </p:nvGraphicFramePr>
        <p:xfrm>
          <a:off x="822960" y="1526179"/>
          <a:ext cx="10515600" cy="31699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Смысл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идентификатор кота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/ breed / sex / color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описательные признаки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birth_date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дата рождения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 / height_cm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физические параметры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город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vaccinated / sterilized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owner_id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идентификатор владельца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строки данных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head() – самый быстрый способ увидеть структуру набора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92608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3327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1892808"/>
            <a:ext cx="250545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cats.head()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648551"/>
              </p:ext>
            </p:extLst>
          </p:nvPr>
        </p:nvGraphicFramePr>
        <p:xfrm>
          <a:off x="3931920" y="1325880"/>
          <a:ext cx="7406640" cy="3505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cat_id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vaccinated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Москва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 короткошёрстная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Томск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Злата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Шотландская вислоухая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Екатеринбург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CAT004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Сибирская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Новосибирск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tail() и sample()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ограничивайтесь только первыми строками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114800" cy="2377440"/>
          </a:xfrm>
          <a:prstGeom prst="roundRect">
            <a:avLst>
              <a:gd name="adj" fmla="val 230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3327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1984248"/>
            <a:ext cx="3694176" cy="1627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cats.tail()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cats.sample(5)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0" y="1417320"/>
            <a:ext cx="530352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tail() – проверяет конец набора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sample() – случайные строки из разных частей таблицы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Особенно полезно, когда данные отсортированы или имеют блоковую структуру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набора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даёт количество строк и столбцов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4632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8755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7899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33272" y="1984248"/>
            <a:ext cx="442569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cats.shape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(125, 12)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len(cats)      # 125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cats.shape[1]  # 12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37960" y="16459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647688" y="181051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47688" y="2258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строк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23960" y="16459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8933688" y="181051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33688" y="225856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столбцов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3204754"/>
            <a:ext cx="4251960" cy="1393372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6729984" y="3547872"/>
            <a:ext cx="3959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После удаления точных дублей останется 120 уникальных строк.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CSV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read_csv() – базовая точка входа для табличных файлов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791456" cy="2084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 = pd.read_csv('cats_raw.csv')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cats.head()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 создаётся DataFrame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строка обычно интерпретируется как заголовок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определяются </a:t>
            </a:r>
            <a:r>
              <a:rPr lang="en-US" sz="20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</a:t>
            </a: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но не всегда правильно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параметры read_csv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Контролируйте интерпретацию файла ещё на этапе чтения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791456" cy="3090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'cats_raw.csv',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sep=',',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encoding='utf-8',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na_values=['нет данных']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45506"/>
              </p:ext>
            </p:extLst>
          </p:nvPr>
        </p:nvGraphicFramePr>
        <p:xfrm>
          <a:off x="6263640" y="1417320"/>
          <a:ext cx="466344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Назначение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разделитель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кодировка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usecols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какие столбцы читать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dtype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столбца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na_values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считать пропуском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Excel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read_excel() позволяет выбрать конкретный лист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94183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103327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1984248"/>
            <a:ext cx="5065776" cy="2542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 = pd.read_excel(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'Данные по котам для Pandas.xlsx',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sheet_name='cats_raw'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4389120" cy="182880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729984" y="1719071"/>
            <a:ext cx="4096512" cy="1494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В Excel-файле нашего кейса есть отдельные листы README, cats_raw, breeds, visits и data_dictionary.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листов Excel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sheet_name=None загружает все листы в словарь DataFrame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212080" cy="3657600"/>
          </a:xfrm>
          <a:prstGeom prst="roundRect">
            <a:avLst>
              <a:gd name="adj" fmla="val 15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892808"/>
            <a:ext cx="4791456" cy="2907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sheets = pd.read_excel(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sheet_name=None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sheets.keys()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52301"/>
              </p:ext>
            </p:extLst>
          </p:nvPr>
        </p:nvGraphicFramePr>
        <p:xfrm>
          <a:off x="6629400" y="1417320"/>
          <a:ext cx="3291840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Ключи словаря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cats_raw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breeds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data_dictionary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связанных таблиц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7114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реальном проекте данные почти всегда разбиты на несколько сущностей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817916"/>
            <a:ext cx="5852160" cy="2560320"/>
          </a:xfrm>
          <a:prstGeom prst="roundRect">
            <a:avLst>
              <a:gd name="adj" fmla="val 214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955076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202822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2384844"/>
            <a:ext cx="5431536" cy="1810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breeds = pd.read_excel(file, sheet_name='breeds')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 = pd.read_excel(file, sheet_name='visits')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49440" y="1817916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7059168" y="19825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59168" y="243056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пород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0" y="1817916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9253728" y="19825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210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253728" y="243056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визитов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93392" y="45262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2066544" y="47274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cats_raw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7616" y="47365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4748784" y="45262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4821936" y="47274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merge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03008" y="47365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7504176" y="45262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7577328" y="47274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breeds / visits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Изучаем структуру DataFrame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Shape 2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" y="1984248"/>
            <a:ext cx="4700016" cy="2450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cats.columns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cats.index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cats.shape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cats.dtypes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– имена полей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– метки строк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– размер таблицы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dtypes</a:t>
            </a: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тип каждого столбца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info()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диагностика таблицы в одной команде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0876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38528"/>
            <a:ext cx="35112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cats.info()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29641"/>
              </p:ext>
            </p:extLst>
          </p:nvPr>
        </p:nvGraphicFramePr>
        <p:xfrm>
          <a:off x="5029200" y="1371600"/>
          <a:ext cx="5943600" cy="23774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показывает info()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нашем наборе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Строки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Столбцы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Non-Null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пропуски есть в 4 полях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+ float64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usage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 памяти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describe()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статистический профиль числовых и категориальных полей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4882896" cy="2084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cats.describe()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cats.describe(include='object')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5720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чисел: count, mean, std, min, quartiles, max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object: count, unique, top, freq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Хороший способ заметить подозрительные диапазоны и категории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уникальных значений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nunique() помогает понять кардинальность признаков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360273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cats.nunique()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5413248" y="171907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17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13248" y="216712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сырых вариантов breed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01000" y="155448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8110728" y="171907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10728" y="216712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ожидаемых пород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3047997"/>
            <a:ext cx="5074920" cy="1576251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5495544" y="3410712"/>
            <a:ext cx="47823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Разница 17 → 12 сигнализирует о проблемах качества: пробелы, регистр и разные записи одной категории.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пород больше, чем должно быть?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Категориальные данные чувствительны к пробелам и регистру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3226"/>
              </p:ext>
            </p:extLst>
          </p:nvPr>
        </p:nvGraphicFramePr>
        <p:xfrm>
          <a:off x="822960" y="1417320"/>
          <a:ext cx="10424160" cy="198120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сыром файле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нормализации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Рэгдолл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Рэгдолл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Персидская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Персидская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Мейн-кун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 короткошёрстная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 короткошёрстная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34440" y="4663440"/>
            <a:ext cx="9601200" cy="8229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 dirty="0"/>
          </a:p>
        </p:txBody>
      </p:sp>
      <p:sp>
        <p:nvSpPr>
          <p:cNvPr id="6" name="Text 3"/>
          <p:cNvSpPr/>
          <p:nvPr/>
        </p:nvSpPr>
        <p:spPr>
          <a:xfrm>
            <a:off x="1380744" y="4782312"/>
            <a:ext cx="9308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Перед groupby(), merge() и value_counts() категории нужно привести к единому стандарту.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одного столбца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столбец DataFrame возвращается как Series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2926080"/>
          </a:xfrm>
          <a:prstGeom prst="roundRect">
            <a:avLst>
              <a:gd name="adj" fmla="val 187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791456" cy="2176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cats['name']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type(cats['name'])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pandas.Series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57200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Квадратные </a:t>
            </a:r>
            <a:r>
              <a:rPr lang="en-US" sz="24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скобки</a:t>
            </a: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базовый синтаксис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наследует индекс DataFrame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поддерживает собственные методы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нескольких столбцов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названий возвращает новый DataFrame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480560" cy="301752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059936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cats[[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'breed',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'weight_kg'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95412"/>
              </p:ext>
            </p:extLst>
          </p:nvPr>
        </p:nvGraphicFramePr>
        <p:xfrm>
          <a:off x="5623560" y="1554480"/>
          <a:ext cx="6263640" cy="1584960"/>
        </p:xfrm>
        <a:graphic>
          <a:graphicData uri="http://schemas.openxmlformats.org/drawingml/2006/table">
            <a:tbl>
              <a:tblPr/>
              <a:tblGrid>
                <a:gridCol w="109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 короткошёрстная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Злата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Шотландская вислоухая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– выбор по меткам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работает с метками индекса и названиями столбцов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29200" cy="3383280"/>
          </a:xfrm>
          <a:prstGeom prst="roundRect">
            <a:avLst>
              <a:gd name="adj" fmla="val 16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608576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cats.loc[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0:4,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['name', 'breed', 'city']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4572000" cy="86868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318504" y="171907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Важно: в loc диапазон 0:4 включает строку с меткой 4.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iloc</a:t>
            </a: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выбор по позициям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iloc использует числовые позиции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93776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451713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cats.iloc[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0:5,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0:4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332411"/>
            <a:ext cx="4663440" cy="1341119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272784" y="1719072"/>
            <a:ext cx="4370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Как в обычных Python-срезах: правая граница не включается.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против iloc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похожие операции с разной логикой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02384"/>
              </p:ext>
            </p:extLst>
          </p:nvPr>
        </p:nvGraphicFramePr>
        <p:xfrm>
          <a:off x="777240" y="1417320"/>
          <a:ext cx="10698480" cy="1981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iloc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метки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позиции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Строки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 – включает 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 – не включает 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Столбцы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названия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номера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Удобно когда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важны имена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нужны срезы по позиции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строк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Булевы выражения создают маску True / False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0876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5819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38528"/>
            <a:ext cx="4608576" cy="1993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moscow = cats[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cats['city'] == 'Москва'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10528" y="17190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10528" y="216712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котов из Москвы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865119"/>
            <a:ext cx="4389120" cy="1654629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547104" y="2953512"/>
            <a:ext cx="4096512" cy="1566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После удаления дублей Москва – самый представленный город в наборе.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условий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&amp;, |, ~ и обязательно ставим скобки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974336" cy="2542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(cats['city'] == 'Москва') &amp;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(cats['sex'] == 'кошка')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420624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– AND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– OR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– NOT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условие берём в скобки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может объединять альтернативные условия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892808"/>
            <a:ext cx="497433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(cats['city'] == 'Москва') |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(cats['city'] == 'Новосибирск')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4297680" cy="12801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47104" y="1764792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Для длинного списка значений лучше использовать isin().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isin() и списки значений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Читабельнее, чем длинная цепочка 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37160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44475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4882896" cy="34564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= 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'Москва',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'Новосибирск',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'Томск'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cats[cats['city'].isin(cities)]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38912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для категориальных фильтров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комбинировать с ~ для отрицания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с Series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Альтернативный синтаксис фильтрации в стиле выражений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974336" cy="2176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cats.query(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 == 'Москва' and sex == 'кошка'"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1"/>
            <a:ext cx="4480560" cy="164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47104" y="1719072"/>
            <a:ext cx="418795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query() делает сложные фильтры короче, но обычные булевы маски часто прозрачнее для новичков.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данных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sort_values() сортирует строки по значениям одного или нескольких полей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37760" cy="2926080"/>
          </a:xfrm>
          <a:prstGeom prst="roundRect">
            <a:avLst>
              <a:gd name="adj" fmla="val 187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517136" cy="2176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cats.sort_values(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'weight_kg',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ascending=False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ascending=False – от большего к меньшему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обычно отправляются в конец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сортировкой weight_kg должен быть числом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по нескольким полям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Shape 2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" y="1984248"/>
            <a:ext cx="4882896" cy="2450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cats.sort_values(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['city', 'weight_kg'],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ascending=[True, False]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4870269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2084832" y="5071437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Сначала 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96384" y="5080581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4797552" y="4870269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4870704" y="5071437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затем внутри города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82256" y="5080581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7583424" y="4870269"/>
            <a:ext cx="25664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7656576" y="5071437"/>
            <a:ext cx="242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weight_kg ↓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Строковые методы .str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со строками поддерживает векторизованные строковые операции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5248656" cy="2907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cats['breed'].str.lower()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cats['breed'].str.upper()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cats['breed'].str.len()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cats['breed'].str.contains('кун')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20840" y="1508760"/>
            <a:ext cx="420624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нужен цикл по каждой строке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работают сразу со всей Series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всегда быстрее и компактнее apply()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Убираем лишние пробелы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str.strip() очищает пробелы по краям строки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2920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60857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 = 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cats['breed']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.str.strip()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77234"/>
              </p:ext>
            </p:extLst>
          </p:nvPr>
        </p:nvGraphicFramePr>
        <p:xfrm>
          <a:off x="6400800" y="1600200"/>
          <a:ext cx="4297680" cy="120700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Рэгдолл 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Рэгдолл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Персидская</a:t>
                      </a: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Персидская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 категорий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 и пробелы превращают одинаковые значения в разные категории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3474720"/>
          </a:xfrm>
          <a:prstGeom prst="roundRect">
            <a:avLst>
              <a:gd name="adj" fmla="val 15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791456" cy="2724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cats['vaccinated'] = (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cats['vaccinated']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.str.strip()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.str.lower()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974648"/>
              </p:ext>
            </p:extLst>
          </p:nvPr>
        </p:nvGraphicFramePr>
        <p:xfrm>
          <a:off x="6263640" y="1417320"/>
          <a:ext cx="4206240" cy="2773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нового столбца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Векторизованное выражение вычисляется для каждой строки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517136" cy="1993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cats['weight_g'] = 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 * 1000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219608"/>
              </p:ext>
            </p:extLst>
          </p:nvPr>
        </p:nvGraphicFramePr>
        <p:xfrm>
          <a:off x="6400800" y="1600200"/>
          <a:ext cx="3840480" cy="1584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Условный признак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Логическое выражение можно сохранить как отдельный столбец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517136" cy="1993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cats['is_large'] = 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 &gt;= 6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10142"/>
              </p:ext>
            </p:extLst>
          </p:nvPr>
        </p:nvGraphicFramePr>
        <p:xfrm>
          <a:off x="6400800" y="1600200"/>
          <a:ext cx="3840480" cy="1584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is_large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Векторизация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 производительной работы в Pandas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669280" cy="4023360"/>
          </a:xfrm>
          <a:prstGeom prst="roundRect">
            <a:avLst>
              <a:gd name="adj" fmla="val 136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37160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44475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5248656" cy="3273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Хорошо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cats['weight_g'] = cats['weight_kg'] * 1000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Плохо для больших таблиц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range(len(cats)):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75120" y="1371601"/>
            <a:ext cx="4297680" cy="1754776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821424" y="1719072"/>
            <a:ext cx="4005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Сначала ищем встроенную векторизованную операцию. Цикл по </a:t>
            </a:r>
            <a:r>
              <a:rPr lang="en-US" sz="2400" dirty="0" err="1">
                <a:solidFill>
                  <a:srgbClr val="111827"/>
                </a:solidFill>
              </a:rPr>
              <a:t>строкам</a:t>
            </a:r>
            <a:r>
              <a:rPr lang="en-US" sz="2400" dirty="0">
                <a:solidFill>
                  <a:srgbClr val="111827"/>
                </a:solidFill>
              </a:rPr>
              <a:t> – крайний вариант.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Удобен для отображения отдельных значений в новые значения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4882896" cy="2176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cats['sex_code'] = cats['sex'].map({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'кот': 'M',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'кошка': 'F'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09472"/>
              </p:ext>
            </p:extLst>
          </p:nvPr>
        </p:nvGraphicFramePr>
        <p:xfrm>
          <a:off x="6537960" y="1645920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sex_code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кошка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Позволяет применить пользовательскую функцию к Series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56510"/>
            <a:ext cx="5943600" cy="4480560"/>
          </a:xfrm>
          <a:prstGeom prst="roundRect">
            <a:avLst>
              <a:gd name="adj" fmla="val 122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04672" y="159367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896112" y="166682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50392" y="2023438"/>
            <a:ext cx="5522976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weight_category(x):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&lt; 4: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'лёгкий'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x &lt; 6: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'средний'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'крупный'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cats['weight_group'] = cats['weight_kg'].apply(weight_category)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903720" y="1822270"/>
            <a:ext cx="40233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Гибко, но обычно медленнее векторизации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 для нестандартной логики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корректно обрабатывать NaN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использовать в первую очередь?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инструмента влияет на читаемость и скорость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2372868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78992" y="2212848"/>
            <a:ext cx="22265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Векторизация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96996" y="22219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Shape 5"/>
          <p:cNvSpPr/>
          <p:nvPr/>
        </p:nvSpPr>
        <p:spPr>
          <a:xfrm>
            <a:off x="3598164" y="2011680"/>
            <a:ext cx="237286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3671316" y="2212848"/>
            <a:ext cx="22265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22219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6190488" y="2011680"/>
            <a:ext cx="2372868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6263640" y="2212848"/>
            <a:ext cx="22265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apply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81644" y="22219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8782812" y="2011680"/>
            <a:ext cx="237286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8855964" y="2212848"/>
            <a:ext cx="22265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цикл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794760"/>
            <a:ext cx="96012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 sz="2400"/>
          </a:p>
        </p:txBody>
      </p:sp>
      <p:sp>
        <p:nvSpPr>
          <p:cNvPr id="16" name="Text 14"/>
          <p:cNvSpPr/>
          <p:nvPr/>
        </p:nvSpPr>
        <p:spPr>
          <a:xfrm>
            <a:off x="1426464" y="3913632"/>
            <a:ext cx="93085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Приоритет: встроенная операция → map для отображений → apply для сложной логики → цикл только при необходимости.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Пропущенные значения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сырых данных есть NaN / пустые значения в нескольких полях</a:t>
            </a:r>
            <a:endParaRPr lang="en-US" sz="2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76026"/>
              </p:ext>
            </p:extLst>
          </p:nvPr>
        </p:nvGraphicFramePr>
        <p:xfrm>
          <a:off x="868680" y="1417320"/>
          <a:ext cx="4206240" cy="22860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Пропусков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weight_kg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height_cm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owner_id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508760"/>
            <a:ext cx="5212080" cy="1188720"/>
          </a:xfrm>
          <a:prstGeom prst="roundRect">
            <a:avLst>
              <a:gd name="adj" fmla="val 3846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3"/>
          <p:cNvSpPr/>
          <p:nvPr/>
        </p:nvSpPr>
        <p:spPr>
          <a:xfrm>
            <a:off x="5815584" y="1627632"/>
            <a:ext cx="49194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111827"/>
                </a:solidFill>
              </a:rPr>
              <a:t>Пропуск</a:t>
            </a:r>
            <a:r>
              <a:rPr lang="en-US" sz="2000" dirty="0">
                <a:solidFill>
                  <a:srgbClr val="111827"/>
                </a:solidFill>
              </a:rPr>
              <a:t> – это не ошибка сам по себе. Важно понять, почему он возник и что означает для анализа.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пропусков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isna() возвращает булеву маску; sum() превращает её в счётчик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974336" cy="1993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cats.isna().sum()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(cats.isna().mean() * 100).round(1)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38912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пропусков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пропусков в процентах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анализировать по отдельным столбцам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пропусков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dropna() требует осторожности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0876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819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38528"/>
            <a:ext cx="4791456" cy="2359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cats.dropna()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точечно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cats.dropna(subset=['weight_kg'])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261872"/>
            <a:ext cx="4663440" cy="1969008"/>
          </a:xfrm>
          <a:prstGeom prst="roundRect">
            <a:avLst>
              <a:gd name="adj" fmla="val 3448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409944" y="1673352"/>
            <a:ext cx="43708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dropna() без параметров удалит строку, если пропуск есть хотя бы в одном </a:t>
            </a:r>
            <a:r>
              <a:rPr lang="en-US" sz="2400" dirty="0" err="1">
                <a:solidFill>
                  <a:srgbClr val="111827"/>
                </a:solidFill>
              </a:rPr>
              <a:t>столбце</a:t>
            </a:r>
            <a:r>
              <a:rPr lang="en-US" sz="2400" dirty="0">
                <a:solidFill>
                  <a:srgbClr val="111827"/>
                </a:solidFill>
              </a:rPr>
              <a:t> – это может потерять слишком много данных.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Заполнение пропусков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fillna() – один из способов импутации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577840" cy="384048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1732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49047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47088"/>
            <a:ext cx="5157216" cy="3090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median_weight = cats['weight_kg'].median()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cats['weight_kg'] = 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.fillna(median_weight)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1508760"/>
            <a:ext cx="40233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Константа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/ медиана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из соседних строк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Модельная импутация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weight_kg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Столбец выглядит числовым, но фактически хранится как object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3064"/>
              </p:ext>
            </p:extLst>
          </p:nvPr>
        </p:nvGraphicFramePr>
        <p:xfrm>
          <a:off x="822960" y="1417320"/>
          <a:ext cx="3291840" cy="2682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Примеры сырых значений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данных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41732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Shape 3"/>
          <p:cNvSpPr/>
          <p:nvPr/>
        </p:nvSpPr>
        <p:spPr>
          <a:xfrm>
            <a:off x="482803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4"/>
          <p:cNvSpPr/>
          <p:nvPr/>
        </p:nvSpPr>
        <p:spPr>
          <a:xfrm>
            <a:off x="491947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73752" y="1984248"/>
            <a:ext cx="3785616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cats['weight_kg'].dtype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object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63440" y="3749040"/>
            <a:ext cx="6656832" cy="1097280"/>
          </a:xfrm>
          <a:prstGeom prst="roundRect">
            <a:avLst>
              <a:gd name="adj" fmla="val 4167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7"/>
          <p:cNvSpPr/>
          <p:nvPr/>
        </p:nvSpPr>
        <p:spPr>
          <a:xfrm>
            <a:off x="4809743" y="3867912"/>
            <a:ext cx="633722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Пока тип object – mean(), median(), сравнения и сортировка могут работать неверно или завершаться ошибкой.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Исправляем десятичный разделитель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нормализуем строковое представление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974336" cy="2816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cats['weight_kg'] = (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.astype('string')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.str.replace(',', '.')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5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316253"/>
              </p:ext>
            </p:extLst>
          </p:nvPr>
        </p:nvGraphicFramePr>
        <p:xfrm>
          <a:off x="6400800" y="1600200"/>
          <a:ext cx="4114800" cy="15849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pd.to_numeric()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errors="coerce" превращает некорректные значения в NaN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882896" cy="2084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cats['weight_kg'] = pd.to_numeric(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errors='coerce'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19"/>
            <a:ext cx="5059680" cy="1334589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47104" y="1719072"/>
            <a:ext cx="4748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«нет данных» → NaN. После этого столбец становится числовым и готов к агрегатам.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Некорректные даты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реальном наборе встречаются логически невозможные даты</a:t>
            </a:r>
            <a:endParaRPr lang="en-US" sz="2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168623"/>
              </p:ext>
            </p:extLst>
          </p:nvPr>
        </p:nvGraphicFramePr>
        <p:xfrm>
          <a:off x="822960" y="1417320"/>
          <a:ext cx="6400800" cy="15849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Сырое значение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31.02.2021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существует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даты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дата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2022-13-05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13-й месяц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261872"/>
            <a:ext cx="3844834" cy="1873214"/>
          </a:xfrm>
          <a:prstGeom prst="roundRect">
            <a:avLst>
              <a:gd name="adj" fmla="val 3846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3"/>
          <p:cNvSpPr/>
          <p:nvPr/>
        </p:nvSpPr>
        <p:spPr>
          <a:xfrm>
            <a:off x="7735824" y="1719072"/>
            <a:ext cx="3633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Нельзя просто считать любой текст датой: сначала нужна безопасная конвертация.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pd.to_datetime()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Ошибочные даты можно безопасно превратить в NaT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303520" cy="2834640"/>
          </a:xfrm>
          <a:prstGeom prst="roundRect">
            <a:avLst>
              <a:gd name="adj" fmla="val 19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4882896" cy="2084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cats['birth_date'] = pd.to_datetime(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cats['birth_date'],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errors='coerce'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70503"/>
              </p:ext>
            </p:extLst>
          </p:nvPr>
        </p:nvGraphicFramePr>
        <p:xfrm>
          <a:off x="6400800" y="1600200"/>
          <a:ext cx="4206240" cy="1584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31.02.2021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даты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2022-13-05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даты через .dt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преобразования datetime можно извлекать календарные признаки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852160" cy="3200400"/>
          </a:xfrm>
          <a:prstGeom prst="roundRect">
            <a:avLst>
              <a:gd name="adj" fmla="val 171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5431536" cy="2450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cats['birth_year'] = cats['birth_date'].dt.year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cats['birth_month'] = cats['birth_date'].dt.month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cats['birth_dow'] = cats['birth_date'].dt.dayofweek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12280" y="1508760"/>
            <a:ext cx="393192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недели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между датами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дублей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duplicated() помогает найти полностью повторяющиеся строки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03520" cy="3474720"/>
          </a:xfrm>
          <a:prstGeom prst="roundRect">
            <a:avLst>
              <a:gd name="adj" fmla="val 157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46304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5361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892808"/>
            <a:ext cx="4882896" cy="2724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cats.duplicated().sum()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cats[cats.duplicated(keep=False)]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601968" y="171907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01968" y="2167128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точных дублей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246120"/>
            <a:ext cx="4895088" cy="868680"/>
          </a:xfrm>
          <a:prstGeom prst="roundRect">
            <a:avLst>
              <a:gd name="adj" fmla="val 5263"/>
            </a:avLst>
          </a:prstGeom>
          <a:solidFill>
            <a:srgbClr val="FEE2E2"/>
          </a:solidFill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6547103" y="3364992"/>
            <a:ext cx="459115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Повторяются CAT003, CAT019, CAT055, CAT078 и CAT104.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дублей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drop_duplicates() оставляет одну копию каждой повторяющейся строки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937760" cy="201168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96112" y="164592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87552" y="171907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2075688"/>
            <a:ext cx="4517136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 = cats.drop_duplicates()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6510528" y="16276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10528" y="207568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до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78240" y="146304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8887968" y="162763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87968" y="207568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после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38404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2084832" y="40416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сырой 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65904" y="40507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4767072" y="38404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4840224" y="40416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drop_duplicates()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1296" y="405079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7522464" y="3840480"/>
            <a:ext cx="253593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7595616" y="4041648"/>
            <a:ext cx="2389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120 котов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value_counts()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способ увидеть распределение категорий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5448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2763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84248"/>
            <a:ext cx="3785616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cats['city'].value_counts()</a:t>
            </a:r>
            <a:endParaRPr lang="en-US" sz="17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710393"/>
              </p:ext>
            </p:extLst>
          </p:nvPr>
        </p:nvGraphicFramePr>
        <p:xfrm>
          <a:off x="5303520" y="1417320"/>
          <a:ext cx="5029200" cy="2377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Город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Количество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Москва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Томск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Екатеринбург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Новосибирск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Санкт-Петербург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GroupBy: Split → Apply → Combine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модель аналитики в Pandas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17320" y="2057400"/>
            <a:ext cx="296265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490472" y="22585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Разбить по city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98264" y="226771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Shape 5"/>
          <p:cNvSpPr/>
          <p:nvPr/>
        </p:nvSpPr>
        <p:spPr>
          <a:xfrm>
            <a:off x="4599432" y="2057400"/>
            <a:ext cx="29626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4672584" y="22585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Посчитать mean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0376" y="226771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Shape 8"/>
          <p:cNvSpPr/>
          <p:nvPr/>
        </p:nvSpPr>
        <p:spPr>
          <a:xfrm>
            <a:off x="7781544" y="2057400"/>
            <a:ext cx="296265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7854696" y="22585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Собрать результат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388620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3" name="Shape 11"/>
          <p:cNvSpPr/>
          <p:nvPr/>
        </p:nvSpPr>
        <p:spPr>
          <a:xfrm>
            <a:off x="3090672" y="402336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Text 12"/>
          <p:cNvSpPr/>
          <p:nvPr/>
        </p:nvSpPr>
        <p:spPr>
          <a:xfrm>
            <a:off x="3182112" y="409651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36392" y="4453128"/>
            <a:ext cx="588873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cats.groupby('city')['weight_kg'].mean()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агрегатов через agg()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группировка может вернуть сразу набор метрик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99905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37065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10217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66833"/>
            <a:ext cx="5340096" cy="32735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cats.groupby('breed').agg(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cats_count=('cat_id', 'count'),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mean_weight=('weight_kg', 'mean'),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mean_height=('height_cm', 'mean')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20840" y="1674225"/>
            <a:ext cx="411480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Именованные агрегаты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Понятные названия выходных колонок</a:t>
            </a:r>
            <a:endParaRPr lang="en-US" sz="2400" dirty="0"/>
          </a:p>
          <a:p>
            <a:pPr marL="177800" indent="-177800"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показателей за один проход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Сводная </a:t>
            </a:r>
            <a:r>
              <a:rPr lang="en-US" sz="24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знакомая форма многомерной агрегации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21676"/>
            <a:ext cx="5303520" cy="4297680"/>
          </a:xfrm>
          <a:prstGeom prst="roundRect">
            <a:avLst>
              <a:gd name="adj" fmla="val 127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04672" y="1550127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896112" y="1623279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50392" y="1979895"/>
            <a:ext cx="4882896" cy="3547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pd.pivot_table(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index='city',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columns='sex',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values='cat_id',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aggfunc='count',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fill_value=0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007222"/>
              </p:ext>
            </p:extLst>
          </p:nvPr>
        </p:nvGraphicFramePr>
        <p:xfrm>
          <a:off x="6355080" y="1915887"/>
          <a:ext cx="4389120" cy="1584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кот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кошка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Москва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Томск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Новосибирск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55080" y="4014650"/>
            <a:ext cx="4389120" cy="17047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7"/>
          <p:cNvSpPr/>
          <p:nvPr/>
        </p:nvSpPr>
        <p:spPr>
          <a:xfrm>
            <a:off x="6501384" y="4549359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Здесь важна техника построения; конкретные значения вычисляются из очищенного DataFrame.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Merge: добавляем справочник пород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cats → breeds имеет тип many-to-one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99905"/>
            <a:ext cx="4635137" cy="384048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37065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10217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1966833"/>
            <a:ext cx="4974336" cy="3090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cats_full = cats.merge(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breeds,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on='breed',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how='left',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validate='many_to_one'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853218"/>
              </p:ext>
            </p:extLst>
          </p:nvPr>
        </p:nvGraphicFramePr>
        <p:xfrm>
          <a:off x="5731110" y="1508760"/>
          <a:ext cx="6129964" cy="1889760"/>
        </p:xfrm>
        <a:graphic>
          <a:graphicData uri="http://schemas.openxmlformats.org/drawingml/2006/table">
            <a:tbl>
              <a:tblPr/>
              <a:tblGrid>
                <a:gridCol w="2237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breed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coat_type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Мейн-кун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США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полудлинная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Британская короткошёрстная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Великобритания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короткая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Сибирская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Россия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полудлинная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с визитами: почему строк становится больше?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 cats → visits имеет тип one-to-many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434739"/>
            <a:ext cx="5394960" cy="3749040"/>
          </a:xfrm>
          <a:prstGeom prst="roundRect">
            <a:avLst>
              <a:gd name="adj" fmla="val 14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850392" y="1571899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941832" y="1645051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" y="2001667"/>
            <a:ext cx="4974336" cy="2999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cats_full.merge(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on='cat_id',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how='left',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validate='one_to_many'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91640" y="5392786"/>
            <a:ext cx="27188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1764792" y="5593954"/>
            <a:ext cx="257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120 котов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28744" y="5603098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Shape 9"/>
          <p:cNvSpPr/>
          <p:nvPr/>
        </p:nvSpPr>
        <p:spPr>
          <a:xfrm>
            <a:off x="4629912" y="5392786"/>
            <a:ext cx="271881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4703064" y="5593954"/>
            <a:ext cx="257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 → many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67016" y="5603098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4" name="Shape 12"/>
          <p:cNvSpPr/>
          <p:nvPr/>
        </p:nvSpPr>
        <p:spPr>
          <a:xfrm>
            <a:off x="7568184" y="5392786"/>
            <a:ext cx="2718816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7641336" y="5593954"/>
            <a:ext cx="2572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210 визитов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709059"/>
            <a:ext cx="4480560" cy="1904998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U" sz="2400"/>
          </a:p>
        </p:txBody>
      </p:sp>
      <p:sp>
        <p:nvSpPr>
          <p:cNvPr id="17" name="Text 15"/>
          <p:cNvSpPr/>
          <p:nvPr/>
        </p:nvSpPr>
        <p:spPr>
          <a:xfrm>
            <a:off x="6638544" y="1827930"/>
            <a:ext cx="4187952" cy="16010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После JOIN количество строк может увеличиться: один кот встречается столько раз, сколько у него визитов.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Pandas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125 сырых строк к очищенному аналитическому DataFrame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06436"/>
            <a:ext cx="6629400" cy="5029200"/>
          </a:xfrm>
          <a:prstGeom prst="roundRect">
            <a:avLst>
              <a:gd name="adj" fmla="val 109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Shape 3"/>
          <p:cNvSpPr/>
          <p:nvPr/>
        </p:nvSpPr>
        <p:spPr>
          <a:xfrm>
            <a:off x="667512" y="1543596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6" name="Text 4"/>
          <p:cNvSpPr/>
          <p:nvPr/>
        </p:nvSpPr>
        <p:spPr>
          <a:xfrm>
            <a:off x="758952" y="16167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973364"/>
            <a:ext cx="6208776" cy="4279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 = pd.read_csv('cats_raw.csv')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 = cats.drop_duplicates()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cats['breed'] = cats['breed'].str.strip()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cats['vaccinated'] = cats['vaccinated'].str.strip().str.lower()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cats['weight_kg'] = pd.to_numeric(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cats['weight_kg'].astype('string').str.replace(',', '.'),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errors='coerce'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cats['birth_date'] = pd.to_datetime(cats['birth_date'], errors='coerce')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(cats.groupby('city')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.agg(cats=('cat_id','count'), avg_weight=('weight_kg','mean'))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.sort_values('cats', ascending=False))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1600202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9" name="Text 7"/>
          <p:cNvSpPr/>
          <p:nvPr/>
        </p:nvSpPr>
        <p:spPr>
          <a:xfrm>
            <a:off x="7607808" y="176479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07808" y="221285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сырых строк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55480" y="1600202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9665208" y="176479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120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65208" y="221285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после дублей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0" y="3063240"/>
            <a:ext cx="806958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5" name="Text 13"/>
          <p:cNvSpPr/>
          <p:nvPr/>
        </p:nvSpPr>
        <p:spPr>
          <a:xfrm>
            <a:off x="7571232" y="3264408"/>
            <a:ext cx="660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3326" y="32735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7" name="Shape 15"/>
          <p:cNvSpPr/>
          <p:nvPr/>
        </p:nvSpPr>
        <p:spPr>
          <a:xfrm>
            <a:off x="8524494" y="3063240"/>
            <a:ext cx="80695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8" name="Text 16"/>
          <p:cNvSpPr/>
          <p:nvPr/>
        </p:nvSpPr>
        <p:spPr>
          <a:xfrm>
            <a:off x="8597646" y="3264408"/>
            <a:ext cx="660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Clean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49740" y="32735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0" name="Shape 18"/>
          <p:cNvSpPr/>
          <p:nvPr/>
        </p:nvSpPr>
        <p:spPr>
          <a:xfrm>
            <a:off x="9550908" y="3063240"/>
            <a:ext cx="806958" cy="749808"/>
          </a:xfrm>
          <a:prstGeom prst="roundRect">
            <a:avLst>
              <a:gd name="adj" fmla="val 609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1" name="Text 19"/>
          <p:cNvSpPr/>
          <p:nvPr/>
        </p:nvSpPr>
        <p:spPr>
          <a:xfrm>
            <a:off x="9622320" y="3264408"/>
            <a:ext cx="6972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Transform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376154" y="3273552"/>
            <a:ext cx="164592" cy="310896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3" name="Shape 21"/>
          <p:cNvSpPr/>
          <p:nvPr/>
        </p:nvSpPr>
        <p:spPr>
          <a:xfrm>
            <a:off x="10577322" y="3063240"/>
            <a:ext cx="80695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4" name="Text 22"/>
          <p:cNvSpPr/>
          <p:nvPr/>
        </p:nvSpPr>
        <p:spPr>
          <a:xfrm>
            <a:off x="10629575" y="3264408"/>
            <a:ext cx="733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Aggregate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59" y="4178810"/>
            <a:ext cx="4408715" cy="1969442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26" name="Text 24"/>
          <p:cNvSpPr/>
          <p:nvPr/>
        </p:nvSpPr>
        <p:spPr>
          <a:xfrm>
            <a:off x="7598663" y="4736592"/>
            <a:ext cx="4157907" cy="886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11827"/>
                </a:solidFill>
              </a:rPr>
              <a:t>Главный навык: не запомнить методы, а уметь выстроить воспроизводимую последовательность преобразований.</a:t>
            </a:r>
            <a:endParaRPr lang="en-US" sz="2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64808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3669</Words>
  <Application>Microsoft Macintosh PowerPoint</Application>
  <PresentationFormat>Widescreen</PresentationFormat>
  <Paragraphs>1050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Учебный модуль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данных в Pandas — Специалист по большим данным</dc:title>
  <dc:subject>Обработка данных в Pandas</dc:subject>
  <dc:creator>OpenAI</dc:creator>
  <cp:lastModifiedBy>Артем Голубничий</cp:lastModifiedBy>
  <cp:revision>5</cp:revision>
  <dcterms:created xsi:type="dcterms:W3CDTF">2026-08-30T23:53:28Z</dcterms:created>
  <dcterms:modified xsi:type="dcterms:W3CDTF">2026-08-31T02:41:40Z</dcterms:modified>
</cp:coreProperties>
</file>